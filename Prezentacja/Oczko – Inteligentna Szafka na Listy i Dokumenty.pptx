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acc41df2-c17c-4ba3-8a1f-cb4bc7c0c61c.fntdata" /><ns0:Relationship Id="rIdFont19" Type="http://schemas.openxmlformats.org/officeDocument/2006/relationships/font" Target="fonts/c4554122-1d72-446c-a082-79dd02632c7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579590"/>
            <a:ext cx="4572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230784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PROJEKT SYSTEMÓW AI • SMART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45109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000000"/>
                </a:solidFill>
                <a:latin typeface="Inter"/>
              </a:rPr>
              <a:t>Oczko – Inteligentna Szafka na Listy i Dokumenty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74740"/>
            <a:ext cx="6286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25252"/>
                </a:solidFill>
                <a:latin typeface="Inter"/>
              </a:rPr>
              <a:t>Autonomiczny system wbudowany do automatycznego wykrywania, OCR i klasyfikacji dokumentów.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59235"/>
            <a:ext cx="3454449" cy="2533650"/>
          </a:xfrm>
          <a:prstGeom prst="roundRect">
            <a:avLst>
              <a:gd name="adj" fmla="val 4511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587823"/>
            <a:ext cx="3454449" cy="2276475"/>
          </a:xfrm>
          <a:prstGeom prst="roundRect">
            <a:avLst>
              <a:gd name="adj" fmla="val 502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587823"/>
            <a:ext cx="3454449" cy="2276475"/>
          </a:xfrm>
          <a:prstGeom prst="roundRect">
            <a:avLst>
              <a:gd name="adj" fmla="val 502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811660"/>
            <a:ext cx="2749599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74" y="2940248"/>
            <a:ext cx="2749599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524" y="2940248"/>
            <a:ext cx="2749599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00000"/>
                </a:solidFill>
                <a:latin typeface="Inter"/>
              </a:rPr>
              <a:t>Opis Projektu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268860"/>
            <a:ext cx="360884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0000"/>
                </a:solidFill>
                <a:latin typeface="Inter"/>
              </a:rPr>
              <a:t>Inteligentna Skrytka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611760"/>
            <a:ext cx="28448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04040"/>
                </a:solidFill>
                <a:latin typeface="Inter"/>
              </a:rPr>
              <a:t>Automatyzacja obiegu korespondencji w biurze lub dziekanacie dzięki technologii krawędziowej i 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1274" y="3397448"/>
            <a:ext cx="360884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0000"/>
                </a:solidFill>
                <a:latin typeface="Inter"/>
              </a:rPr>
              <a:t>Google Gemini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1274" y="3740348"/>
            <a:ext cx="28448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04040"/>
                </a:solidFill>
                <a:latin typeface="Inter"/>
              </a:rPr>
              <a:t>Odczyt treści, identyfikacja adresata i precyzyjna klasyfikacja typu pisma w ułamku sekundy.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0524" y="3397448"/>
            <a:ext cx="360884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0000"/>
                </a:solidFill>
                <a:latin typeface="Inter"/>
              </a:rPr>
              <a:t>Human-in-the-loop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0524" y="3740348"/>
            <a:ext cx="28448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04040"/>
                </a:solidFill>
                <a:latin typeface="Inter"/>
              </a:rPr>
              <a:t>Ręczne zatwierdzenie e-maila przez operatora chroni przed pomyłkami dystrybucji.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06823"/>
            <a:ext cx="10972800" cy="885825"/>
          </a:xfrm>
          <a:prstGeom prst="roundRect">
            <a:avLst>
              <a:gd name="adj" fmla="val 107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83148"/>
            <a:ext cx="10972800" cy="885825"/>
          </a:xfrm>
          <a:prstGeom prst="roundRect">
            <a:avLst>
              <a:gd name="adj" fmla="val 107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359473"/>
            <a:ext cx="10972800" cy="885825"/>
          </a:xfrm>
          <a:prstGeom prst="roundRect">
            <a:avLst>
              <a:gd name="adj" fmla="val 10752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206823"/>
            <a:ext cx="57150" cy="8858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283148"/>
            <a:ext cx="57150" cy="8858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359473"/>
            <a:ext cx="57150" cy="8858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535435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611760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688085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00000"/>
                </a:solidFill>
                <a:latin typeface="Inter"/>
              </a:rPr>
              <a:t>Cele Projektu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2435423"/>
            <a:ext cx="796349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Interaktywna weryfikacja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800" y="2673548"/>
            <a:ext cx="7584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25252"/>
                </a:solidFill>
                <a:latin typeface="Inter"/>
              </a:rPr>
              <a:t>Manualne wyzwalanie procesu skanowania przyciskiem i fizyczna sygnalizacja 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3511748"/>
            <a:ext cx="773846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Rozpoznawanie i klasyfikacja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800" y="3749873"/>
            <a:ext cx="7369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25252"/>
                </a:solidFill>
                <a:latin typeface="Inter"/>
              </a:rPr>
              <a:t>Przetwarzanie dokumentów przez multimodalny model do wyznaczenia adresata.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4588073"/>
            <a:ext cx="788848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Oszczędność czasu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800" y="4826198"/>
            <a:ext cx="7512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25252"/>
                </a:solidFill>
                <a:latin typeface="Inter"/>
              </a:rPr>
              <a:t>Automatyzacja czytania korespondencji przy zachowaniu pełnej kontroli operatora.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2160"/>
            <a:ext cx="2628900" cy="1447800"/>
          </a:xfrm>
          <a:prstGeom prst="roundRect">
            <a:avLst>
              <a:gd name="adj" fmla="val 7894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3002160"/>
            <a:ext cx="2628900" cy="1447800"/>
          </a:xfrm>
          <a:prstGeom prst="roundRect">
            <a:avLst>
              <a:gd name="adj" fmla="val 7894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002160"/>
            <a:ext cx="2628900" cy="1447800"/>
          </a:xfrm>
          <a:prstGeom prst="roundRect">
            <a:avLst>
              <a:gd name="adj" fmla="val 7894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3002160"/>
            <a:ext cx="2628900" cy="1447800"/>
          </a:xfrm>
          <a:prstGeom prst="roundRect">
            <a:avLst>
              <a:gd name="adj" fmla="val 7894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3240285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40285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962" y="3240285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937" y="3240285"/>
            <a:ext cx="2000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00000"/>
                </a:solidFill>
                <a:latin typeface="Inter"/>
              </a:rPr>
              <a:t>Architektura i Przepływ Danych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373" y="3621285"/>
            <a:ext cx="282535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0000"/>
                </a:solidFill>
                <a:latin typeface="Inter"/>
              </a:rPr>
              <a:t>1. Skanowanie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643" y="3887985"/>
            <a:ext cx="269081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525252"/>
                </a:solidFill>
                <a:latin typeface="Inter"/>
              </a:rPr>
              <a:t>Przycisk GPIO uruchamia kamerę na Banana Pi.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2673" y="3621285"/>
            <a:ext cx="282535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0000"/>
                </a:solidFill>
                <a:latin typeface="Inter"/>
              </a:rPr>
              <a:t>2. Edge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9943" y="3887985"/>
            <a:ext cx="269081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525252"/>
                </a:solidFill>
                <a:latin typeface="Inter"/>
              </a:rPr>
              <a:t>Optymalizacja obrazu i kompresja JPG (OpenCV).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3973" y="3621285"/>
            <a:ext cx="282535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0000"/>
                </a:solidFill>
                <a:latin typeface="Inter"/>
              </a:rPr>
              <a:t>3. Gemini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1243" y="3887985"/>
            <a:ext cx="269081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525252"/>
                </a:solidFill>
                <a:latin typeface="Inter"/>
              </a:rPr>
              <a:t>Analiza wizualna i zwrócenie struktury JSON OCR.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5273" y="3621285"/>
            <a:ext cx="282535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0000"/>
                </a:solidFill>
                <a:latin typeface="Inter"/>
              </a:rPr>
              <a:t>4. Działanie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2543" y="3887985"/>
            <a:ext cx="269081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525252"/>
                </a:solidFill>
                <a:latin typeface="Inter"/>
              </a:rPr>
              <a:t>Zapalenie LED skrytki i szablon powiadomienia.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57462"/>
            <a:ext cx="5334000" cy="2337196"/>
          </a:xfrm>
          <a:prstGeom prst="roundRect">
            <a:avLst>
              <a:gd name="adj" fmla="val 489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57462"/>
            <a:ext cx="5334000" cy="2337196"/>
          </a:xfrm>
          <a:prstGeom prst="roundRect">
            <a:avLst>
              <a:gd name="adj" fmla="val 489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71787"/>
            <a:ext cx="470535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871787"/>
            <a:ext cx="470535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00000"/>
                </a:solidFill>
                <a:latin typeface="Inter"/>
              </a:rPr>
              <a:t>Wymagania Sprzętowe (Hardware)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290887"/>
            <a:ext cx="617577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Jednostka Centralna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290887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Akcesoria GPIO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3603307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605212"/>
            <a:ext cx="5643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Banana Pi M2 Zero (512 MB RAM)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3847087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3848992"/>
            <a:ext cx="5643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Kamera USB / dedykowany moduł kamery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090868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092773"/>
            <a:ext cx="5643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Zasilacz 5V, konwerter OTG USB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4334648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425" y="4336553"/>
            <a:ext cx="5643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Karta MicroSD (min. 16 GB)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3603307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3225" y="3605212"/>
            <a:ext cx="5438775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Przycisk fizyczny TACT Switch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3847087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848992"/>
            <a:ext cx="5438775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Diody LED przypisane do skrytek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4090868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3225" y="4092773"/>
            <a:ext cx="5438775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Rezystory 220Ω / 330Ω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4334648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4336553"/>
            <a:ext cx="5438775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Przewody połączeniowe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02073"/>
            <a:ext cx="5334000" cy="2847975"/>
          </a:xfrm>
          <a:prstGeom prst="roundRect">
            <a:avLst>
              <a:gd name="adj" fmla="val 4013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302073"/>
            <a:ext cx="5334000" cy="2847975"/>
          </a:xfrm>
          <a:prstGeom prst="roundRect">
            <a:avLst>
              <a:gd name="adj" fmla="val 4013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62725" y="3892748"/>
            <a:ext cx="4705350" cy="942975"/>
          </a:xfrm>
          <a:prstGeom prst="roundRect">
            <a:avLst>
              <a:gd name="adj" fmla="val 606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616398"/>
            <a:ext cx="470535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616398"/>
            <a:ext cx="470535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00000"/>
                </a:solidFill>
                <a:latin typeface="Inter"/>
              </a:rPr>
              <a:t>Oprogramowanie i Zależności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035498"/>
            <a:ext cx="617577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Stos Technologiczny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035498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Konfiguracja klucza (`KEY.json`)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349823"/>
            <a:ext cx="4800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04040"/>
                </a:solidFill>
                <a:latin typeface="Inter"/>
              </a:rPr>
              <a:t>Plik konfiguracyjny przechowywany lokalnie z pominięciem publicznego repozytorium (.gitignore):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4007048"/>
            <a:ext cx="449580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FFFFF"/>
                </a:solidFill>
                <a:latin typeface="monospace"/>
              </a:rPr>
              <a:t>{</a:t>
            </a:r>
            <a:r>
              <a:t>
</a:t>
            </a:r>
            <a:r>
              <a:rPr b="0" sz="975" i="0" u="none">
                <a:solidFill>
                  <a:srgbClr val="FFFFFF"/>
                </a:solidFill>
                <a:latin typeface="monospace"/>
              </a:rPr>
              <a:t>   "api_key": "AIzaSy_...",</a:t>
            </a:r>
            <a:r>
              <a:t>
</a:t>
            </a:r>
            <a:r>
              <a:rPr b="0" sz="975" i="0" u="none">
                <a:solidFill>
                  <a:srgbClr val="FFFFFF"/>
                </a:solidFill>
                <a:latin typeface="monospace"/>
              </a:rPr>
              <a:t>   "email_sender": "...",</a:t>
            </a:r>
            <a:r>
              <a:t>
</a:t>
            </a:r>
            <a:r>
              <a:rPr b="0" sz="975" i="0" u="none">
                <a:solidFill>
                  <a:srgbClr val="FFFFFF"/>
                </a:solidFill>
                <a:latin typeface="monospace"/>
              </a:rPr>
              <a:t>   "default_receiver": "..."</a:t>
            </a:r>
            <a:r>
              <a:t>
</a:t>
            </a:r>
            <a:r>
              <a:rPr b="0" sz="975" i="0" u="none">
                <a:solidFill>
                  <a:srgbClr val="FFFFFF"/>
                </a:solidFill>
                <a:latin typeface="monospace"/>
              </a:rPr>
              <a:t>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347918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349823"/>
            <a:ext cx="5643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Python 3.10+ jako główny język logiki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591698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3593603"/>
            <a:ext cx="5643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OpenCV do obróbki obrazu z kamery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835479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425" y="3837384"/>
            <a:ext cx="5643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Google GenAI SDK (`google-genai`)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4079259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" y="4081164"/>
            <a:ext cx="5643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Biblioteka GPIO dla Banana 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16398"/>
            <a:ext cx="5391150" cy="1104900"/>
          </a:xfrm>
          <a:prstGeom prst="roundRect">
            <a:avLst>
              <a:gd name="adj" fmla="val 862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616398"/>
            <a:ext cx="5391150" cy="1104900"/>
          </a:xfrm>
          <a:prstGeom prst="roundRect">
            <a:avLst>
              <a:gd name="adj" fmla="val 862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11798"/>
            <a:ext cx="5391150" cy="923925"/>
          </a:xfrm>
          <a:prstGeom prst="roundRect">
            <a:avLst>
              <a:gd name="adj" fmla="val 10309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11798"/>
            <a:ext cx="5391150" cy="923925"/>
          </a:xfrm>
          <a:prstGeom prst="roundRect">
            <a:avLst>
              <a:gd name="adj" fmla="val 10309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873573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873573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4168973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4168973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00000"/>
                </a:solidFill>
                <a:latin typeface="Inter"/>
              </a:rPr>
              <a:t>Wymagania Funkcjonalne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854523"/>
            <a:ext cx="6450806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Inter"/>
              </a:rPr>
              <a:t>Wyzwalacz GPIO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121223"/>
            <a:ext cx="5010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04040"/>
                </a:solidFill>
                <a:latin typeface="Inter"/>
              </a:rPr>
              <a:t>Obsługa przycisku fizycznego inicjująca zrobienie zdjęcia przez kamerę.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2854523"/>
            <a:ext cx="5762625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Inter"/>
              </a:rPr>
              <a:t>Przeskalowanie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121223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04040"/>
                </a:solidFill>
                <a:latin typeface="Inter"/>
              </a:rPr>
              <a:t>Wstępna obróbka obrazu i ograniczenie rozdzielczości do 1600px.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149923"/>
            <a:ext cx="6450806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Inter"/>
              </a:rPr>
              <a:t>Identyfikacja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416623"/>
            <a:ext cx="6143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04040"/>
                </a:solidFill>
                <a:latin typeface="Inter"/>
              </a:rPr>
              <a:t>Odczyt OCR i klasyfikacja adresata przez model Gemini Flash.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4149923"/>
            <a:ext cx="5762625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Inter"/>
              </a:rPr>
              <a:t>Sygnalizacja i Szablon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4416623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04040"/>
                </a:solidFill>
                <a:latin typeface="Inter"/>
              </a:rPr>
              <a:t>Zapalenie diody skrytki oraz przygotowanie e-maila do akceptacji.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1660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11660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11660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87885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8788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3087885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00000"/>
                </a:solidFill>
                <a:latin typeface="Inter"/>
              </a:rPr>
              <a:t>Wymagania Niefunkcjonalne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457" y="3545085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0000"/>
                </a:solidFill>
                <a:latin typeface="Inter"/>
              </a:rPr>
              <a:t>Bezpieczeństwo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731" y="3821310"/>
            <a:ext cx="369093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525252"/>
                </a:solidFill>
                <a:latin typeface="Inter"/>
              </a:rPr>
              <a:t>Brak automatycznej wysyłki eliminuje ryzyko błędnego doręczenia korespondencji.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8257" y="3545085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0000"/>
                </a:solidFill>
                <a:latin typeface="Inter"/>
              </a:rPr>
              <a:t>Niska Latencja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0531" y="3821310"/>
            <a:ext cx="369093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525252"/>
                </a:solidFill>
                <a:latin typeface="Inter"/>
              </a:rPr>
              <a:t>Czas reakcji od przycisku do zapalenia diody wynosi ok. 1-3 sekundy.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2057" y="3545085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0000"/>
                </a:solidFill>
                <a:latin typeface="Inter"/>
              </a:rPr>
              <a:t>Lekkość i Zasoby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4331" y="3821310"/>
            <a:ext cx="369093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525252"/>
                </a:solidFill>
                <a:latin typeface="Inter"/>
              </a:rPr>
              <a:t>Minimalne zużycie pamięci RAM na Banana Pi poniżej 100 MB.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6582"/>
            <a:ext cx="5334000" cy="2138957"/>
          </a:xfrm>
          <a:prstGeom prst="roundRect">
            <a:avLst>
              <a:gd name="adj" fmla="val 5343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56582"/>
            <a:ext cx="5334000" cy="2138957"/>
          </a:xfrm>
          <a:prstGeom prst="roundRect">
            <a:avLst>
              <a:gd name="adj" fmla="val 5343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3323332"/>
            <a:ext cx="4705350" cy="1157882"/>
          </a:xfrm>
          <a:prstGeom prst="roundRect">
            <a:avLst>
              <a:gd name="adj" fmla="val 658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00000"/>
                </a:solidFill>
                <a:latin typeface="Inter"/>
              </a:rPr>
              <a:t>Uruchomienie i Rezultaty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970907"/>
            <a:ext cx="617577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Instalacja i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475732"/>
            <a:ext cx="4495800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FFFFFF"/>
                </a:solidFill>
                <a:latin typeface="monospace"/>
              </a:rPr>
              <a:t>git clone </a:t>
            </a:r>
            <a:r>
              <a:t>
</a:t>
            </a:r>
            <a:r>
              <a:rPr b="0" sz="1050" i="0" u="none">
                <a:solidFill>
                  <a:srgbClr val="FFFFFF"/>
                </a:solidFill>
                <a:latin typeface="monospace"/>
              </a:rPr>
              <a:t> cd Projekt_Systemy_AI</a:t>
            </a:r>
            <a:r>
              <a:t>
</a:t>
            </a:r>
            <a:r>
              <a:rPr b="0" sz="1050" i="0" u="none">
                <a:solidFill>
                  <a:srgbClr val="FFFFFF"/>
                </a:solidFill>
                <a:latin typeface="monospace"/>
              </a:rPr>
              <a:t> pip install -r requirements.txt</a:t>
            </a:r>
            <a:r>
              <a:t>
</a:t>
            </a:r>
            <a:r>
              <a:rPr b="0" sz="1050" i="0" u="none">
                <a:solidFill>
                  <a:srgbClr val="FFFFFF"/>
                </a:solidFill>
                <a:latin typeface="monospace"/>
              </a:rPr>
              <a:t> python TEST.py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970907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Wyniki Działania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3321427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3225" y="3323332"/>
            <a:ext cx="5438775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Zapis skanów i plików `.eml` w katalogu `./Results`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3565207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3225" y="3567112"/>
            <a:ext cx="5438775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Aktywacja fizycznej diody LED przypisanej do skrytki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3808987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3810892"/>
            <a:ext cx="5438775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Szablon powiadomienia czeka na zatwierdzenie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4052768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04040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4054673"/>
            <a:ext cx="5438775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04040"/>
                </a:solidFill>
                <a:latin typeface="Inter"/>
              </a:rPr>
              <a:t>Mechanizm retry dla stabilności zapytania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83060"/>
            <a:ext cx="5372100" cy="1028700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83060"/>
            <a:ext cx="5372100" cy="1028700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40360"/>
            <a:ext cx="5372100" cy="1028700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840360"/>
            <a:ext cx="5372100" cy="1028700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285928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86525" y="285928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825" y="411658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86525" y="411658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00000"/>
                </a:solidFill>
                <a:latin typeface="Inter"/>
              </a:rPr>
              <a:t>Twórcy Projektu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859285"/>
            <a:ext cx="762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WM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3650" y="2859285"/>
            <a:ext cx="762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116585"/>
            <a:ext cx="762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MK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3650" y="4116585"/>
            <a:ext cx="762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SB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2575" y="2897385"/>
            <a:ext cx="1800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Wiktor Matusik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2575" y="3135510"/>
            <a:ext cx="1714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25252"/>
                </a:solidFill>
                <a:latin typeface="Inter"/>
              </a:rPr>
              <a:t>Współtwórca projektu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3275" y="2897385"/>
            <a:ext cx="1800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Damian Basta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3275" y="3135510"/>
            <a:ext cx="1714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25252"/>
                </a:solidFill>
                <a:latin typeface="Inter"/>
              </a:rPr>
              <a:t>Współtwórca projektu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2575" y="4154685"/>
            <a:ext cx="218777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Mateusz Kowalczyk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2575" y="4392810"/>
            <a:ext cx="2083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25252"/>
                </a:solidFill>
                <a:latin typeface="Inter"/>
              </a:rPr>
              <a:t>Współtwórca projektu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3275" y="4154685"/>
            <a:ext cx="1800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Inter"/>
              </a:rPr>
              <a:t>Serafym Bokii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3275" y="4392810"/>
            <a:ext cx="1714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25252"/>
                </a:solidFill>
                <a:latin typeface="Inter"/>
              </a:rPr>
              <a:t>Współtwórca projektu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033837"/>
            <a:ext cx="6096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1888" y="2786062"/>
            <a:ext cx="5788223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Dziękuję za uwagę!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40781" y="3500437"/>
            <a:ext cx="7310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A3A3A3"/>
                </a:solidFill>
                <a:latin typeface="Inter"/>
              </a:rPr>
              <a:t>Projekt akademicki w ramach celów systemów AI • Licencja 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